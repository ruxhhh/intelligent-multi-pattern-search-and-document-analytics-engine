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00503000000020004" pitchFamily="2" charset="0"/>
      <p:regular r:id="rId13"/>
    </p:embeddedFont>
    <p:embeddedFont>
      <p:font typeface="Inter Bold" panose="02000503000000020004" pitchFamily="2" charset="0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hyperlink" Target="https://www.universitiespress.com/details?id=9788173716126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.yp.to/bib/entries.html?utm_source=chatgpt.com#1981/rabin" TargetMode="External"/><Relationship Id="rId11" Type="http://schemas.openxmlformats.org/officeDocument/2006/relationships/hyperlink" Target="https://www.jstor.org/stable/j.ctt183q0b4" TargetMode="External"/><Relationship Id="rId5" Type="http://schemas.openxmlformats.org/officeDocument/2006/relationships/hyperlink" Target="https://mitpress.mit.edu/9780262033848/introduction-to-algorithms/?utm_source=chatgpt.com" TargetMode="External"/><Relationship Id="rId10" Type="http://schemas.openxmlformats.org/officeDocument/2006/relationships/hyperlink" Target="https://press.princeton.edu/books/paperback/9780691146683/dynamic-programming" TargetMode="External"/><Relationship Id="rId4" Type="http://schemas.openxmlformats.org/officeDocument/2006/relationships/image" Target="../media/image34.svg"/><Relationship Id="rId9" Type="http://schemas.openxmlformats.org/officeDocument/2006/relationships/hyperlink" Target="https://epubs.siam.org/doi/10.1137/02220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18827"/>
            <a:ext cx="6296860" cy="87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100" spc="-8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Multi-Pattern Search and Document Analytics Engine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1676499"/>
            <a:ext cx="6296860" cy="2424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kern="100" spc="-11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intelligent platform for efficient document search, comparison, optimization and analysis.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233360" y="4315718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233360" y="4504234"/>
            <a:ext cx="690644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kern="10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33360" y="4846638"/>
            <a:ext cx="6296860" cy="70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kern="10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2510030088 M RUCHEE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kern="10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2510030016 ODDIRAJ SRIDHRUTHI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kern="10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2510030093 K POOJASRI REDDY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33360" y="5688707"/>
            <a:ext cx="6296860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1050"/>
              </a:spcAft>
              <a:buNone/>
            </a:pPr>
            <a:r>
              <a:rPr lang="en-US" sz="1100" b="1" kern="10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Department:</a:t>
            </a:r>
            <a:r>
              <a:rPr lang="en-US" sz="1100" kern="10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Computer Science &amp; Engineering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b="1" kern="10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College:</a:t>
            </a:r>
            <a:r>
              <a:rPr lang="en-US" sz="1100" kern="10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KLH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30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9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&amp; Problem Statement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35298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830090"/>
            <a:ext cx="5242687" cy="1872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documents are </a:t>
            </a: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difficult to search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efficiently using manual methods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pattern searching </a:t>
            </a: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increases processing time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significantly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also need </a:t>
            </a: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comparison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meaningful content analysis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algorithmic approaches </a:t>
            </a: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 differently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different inputs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93883" y="1435298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93883" y="1848743"/>
            <a:ext cx="5242687" cy="1082576"/>
          </a:xfrm>
          <a:prstGeom prst="roundRect">
            <a:avLst>
              <a:gd name="adj" fmla="val 609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43" y="2077442"/>
            <a:ext cx="196349" cy="1570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04351" y="2022277"/>
            <a:ext cx="457516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100" spc="-2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 a practical document engine</a:t>
            </a:r>
            <a:r>
              <a:rPr lang="en-US" sz="1200" kern="10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can efficiently search patterns, compare documents, optimize processing tasks, and analyze algorithm performance.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93883" y="3099197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Challenge Flow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883" y="3512641"/>
            <a:ext cx="2621294" cy="628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0943" y="4290318"/>
            <a:ext cx="230717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 Documents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177" y="3512641"/>
            <a:ext cx="2621393" cy="628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72236" y="4290318"/>
            <a:ext cx="230727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Repeated Searching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883" y="4692948"/>
            <a:ext cx="2621294" cy="6284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50943" y="5470624"/>
            <a:ext cx="230717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 Processing Cost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177" y="4692948"/>
            <a:ext cx="2621393" cy="6284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72236" y="5470624"/>
            <a:ext cx="2307274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Need Efficient Algorithms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822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10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 &amp; Proposed System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117402"/>
            <a:ext cx="474670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757" y="1367185"/>
            <a:ext cx="161226" cy="161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0716" y="1363861"/>
            <a:ext cx="43974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 document and multi-pattern search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757" y="1832620"/>
            <a:ext cx="161226" cy="161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0716" y="1829296"/>
            <a:ext cx="43974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Compare algorithms using real measurements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757" y="2298055"/>
            <a:ext cx="161226" cy="1612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0716" y="2294731"/>
            <a:ext cx="43974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Compare documents via edit distance and alignment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757" y="2763490"/>
            <a:ext cx="161226" cy="1612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10716" y="2760166"/>
            <a:ext cx="43974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workflows using dynamic programming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757" y="3228925"/>
            <a:ext cx="161226" cy="16123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10716" y="3225602"/>
            <a:ext cx="43974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Solve network and resource allocation problems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5676659" y="1117402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 Pipeline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5676659" y="1363861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100" spc="-2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5676659" y="1533723"/>
            <a:ext cx="5859812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0"/>
          <p:cNvSpPr/>
          <p:nvPr/>
        </p:nvSpPr>
        <p:spPr>
          <a:xfrm>
            <a:off x="5676659" y="1612801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5676659" y="1850529"/>
            <a:ext cx="585981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Upload, preview, tokenize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5676659" y="2142827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100" spc="-2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5676659" y="2312690"/>
            <a:ext cx="5859812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4"/>
          <p:cNvSpPr/>
          <p:nvPr/>
        </p:nvSpPr>
        <p:spPr>
          <a:xfrm>
            <a:off x="5676659" y="2391767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Search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5676659" y="2629495"/>
            <a:ext cx="585981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matching across documents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5676659" y="2921794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100" spc="-2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5676659" y="3091656"/>
            <a:ext cx="5859812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18"/>
          <p:cNvSpPr/>
          <p:nvPr/>
        </p:nvSpPr>
        <p:spPr>
          <a:xfrm>
            <a:off x="5676659" y="3170734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Compare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676659" y="3408462"/>
            <a:ext cx="585981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distance, sequence alignment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5676659" y="3700760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100" spc="-2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5676659" y="3870623"/>
            <a:ext cx="5859812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2"/>
          <p:cNvSpPr/>
          <p:nvPr/>
        </p:nvSpPr>
        <p:spPr>
          <a:xfrm>
            <a:off x="5676659" y="3949700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 Optimizer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676659" y="4187428"/>
            <a:ext cx="585981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DP-based workflow optimization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5676659" y="4479727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100" spc="-2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5676659" y="4649589"/>
            <a:ext cx="5859812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6"/>
          <p:cNvSpPr/>
          <p:nvPr/>
        </p:nvSpPr>
        <p:spPr>
          <a:xfrm>
            <a:off x="5676659" y="4728666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Planner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676659" y="4966395"/>
            <a:ext cx="585981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Flow, matching, assignment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5676659" y="5258693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100" spc="-2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5676659" y="5428555"/>
            <a:ext cx="5859812" cy="127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0"/>
          <p:cNvSpPr/>
          <p:nvPr/>
        </p:nvSpPr>
        <p:spPr>
          <a:xfrm>
            <a:off x="5676659" y="5507633"/>
            <a:ext cx="58598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 &amp; Performance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5676659" y="5745361"/>
            <a:ext cx="585981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measurements and analytics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5676659" y="6046391"/>
            <a:ext cx="646939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kern="100" spc="-1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integrated platform</a:t>
            </a: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connects document processing with efficient algorithmic computation.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98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100" spc="-9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Literature Review</a:t>
            </a:r>
            <a:endParaRPr lang="en-US" sz="3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97409"/>
          <a:ext cx="10868745" cy="3850386"/>
        </p:xfrm>
        <a:graphic>
          <a:graphicData uri="http://schemas.openxmlformats.org/drawingml/2006/table">
            <a:tbl>
              <a:tblPr/>
              <a:tblGrid>
                <a:gridCol w="3043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Approach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Strength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Naïve Matching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 and easy to implement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 with repeated comparisons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KMP Algorithm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Avoids unnecessary re-comparisons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Primarily single-pattern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Rabin-Karp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Hash-based efficient searching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Hash collisions require verification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Z-Algorithm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Linear-time pattern matching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Different implementation model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Suffix Structures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Useful for repeated text queries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Requires more preprocessing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Dynamic Programming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 for comparison and alignment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Higher memory for large matrices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Flow Algorithms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Useful for capacity and allocation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6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Suitable for graph-based problems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5546626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786338"/>
            <a:ext cx="206667" cy="1652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98731" y="575319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10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methods solve specific problems effectively; our system </a:t>
            </a:r>
            <a:r>
              <a:rPr lang="en-US" sz="1300" b="1" kern="100" spc="-2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combines them into practical document and processing workflows</a:t>
            </a:r>
            <a:r>
              <a:rPr lang="en-US" sz="1300" kern="10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762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10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50416"/>
            <a:ext cx="7923127" cy="3943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41900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Management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5279628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Upload, preview, tokenize, and normalize text documents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1475" y="5491361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Engine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61475" y="5729089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patterns efficiently using multiple string matching algorithms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1475" y="5940822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Comparison Engine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1475" y="6178550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documents and sequences using edit distance and alignment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33262" y="5041900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 Engine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33262" y="5279628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 ordering and interval problems using dynamic programming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33262" y="5491361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Planner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33262" y="5729089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 flow, bottleneck, matching, and assignment problems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3262" y="5940822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3262" y="6178550"/>
            <a:ext cx="591289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kern="10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actual results and algorithm performance measurements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E11DD4-DFE4-BC32-1624-43B16C33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77" y="138671"/>
            <a:ext cx="11367845" cy="65806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677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100" spc="-6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74452"/>
            <a:ext cx="10868745" cy="694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5657" y="1413272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18177" y="1302841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3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18177" y="1532334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Upload, preview, tokenize, and normalize text documents for processing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50045"/>
            <a:ext cx="10868745" cy="6946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5657" y="2188865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18177" y="2078434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3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Search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18177" y="2307927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and multi-pattern search with match highlighting and timing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25638"/>
            <a:ext cx="10868745" cy="694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657" y="296445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218177" y="2854027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3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Compare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18177" y="3083520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distance, sequence alignment, and common content identification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01231"/>
            <a:ext cx="10868745" cy="6946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5657" y="3740051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218177" y="3629620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3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 Optimizer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218177" y="3859113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processing sequence and interval optimization using DP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76824"/>
            <a:ext cx="10868745" cy="6946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5657" y="4515644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218177" y="4405213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3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Planner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218177" y="4634706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networks, bottleneck analysis, matching, and assignment problems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52417"/>
            <a:ext cx="10868745" cy="69463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5657" y="5291237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218177" y="5180806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3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 &amp; Performance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1218177" y="5410299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measurements, algorithm comparison, and analytics dashboard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61475" y="5838130"/>
            <a:ext cx="10868745" cy="369094"/>
          </a:xfrm>
          <a:prstGeom prst="roundRect">
            <a:avLst>
              <a:gd name="adj" fmla="val 1317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161" y="5954613"/>
            <a:ext cx="144657" cy="11568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37505" y="5947966"/>
            <a:ext cx="109866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kern="100" spc="-1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Engine:</a:t>
            </a:r>
            <a:r>
              <a:rPr lang="en-US" sz="900" kern="100" spc="-1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String Matching → Dynamic Programming → Graph / Flow Algorithms → Performance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9446"/>
            <a:ext cx="10868745" cy="241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Results, Screenshots &amp; Testing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1475" y="745232"/>
            <a:ext cx="1086874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Screenshots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661475" y="3735288"/>
            <a:ext cx="11478330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i="1" kern="100" spc="-1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· Smart Search · Document Compare · Network Planner</a:t>
            </a:r>
            <a:endParaRPr lang="en-US" sz="600" dirty="0"/>
          </a:p>
        </p:txBody>
      </p:sp>
      <p:sp>
        <p:nvSpPr>
          <p:cNvPr id="9" name="Text 3"/>
          <p:cNvSpPr/>
          <p:nvPr/>
        </p:nvSpPr>
        <p:spPr>
          <a:xfrm>
            <a:off x="661475" y="3880048"/>
            <a:ext cx="1086874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Summary</a:t>
            </a:r>
            <a:endParaRPr lang="en-US" sz="750" dirty="0"/>
          </a:p>
        </p:txBody>
      </p:sp>
      <p:sp>
        <p:nvSpPr>
          <p:cNvPr id="10" name="Shape 4"/>
          <p:cNvSpPr/>
          <p:nvPr/>
        </p:nvSpPr>
        <p:spPr>
          <a:xfrm>
            <a:off x="661475" y="4054773"/>
            <a:ext cx="5416315" cy="667841"/>
          </a:xfrm>
          <a:prstGeom prst="roundRect">
            <a:avLst>
              <a:gd name="adj" fmla="val 485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5"/>
          <p:cNvSpPr/>
          <p:nvPr/>
        </p:nvSpPr>
        <p:spPr>
          <a:xfrm>
            <a:off x="745015" y="4138315"/>
            <a:ext cx="231769" cy="23177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712" y="4202013"/>
            <a:ext cx="104276" cy="10427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5015" y="4406106"/>
            <a:ext cx="524923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Build: PASS</a:t>
            </a:r>
            <a:endParaRPr lang="en-US" sz="750" dirty="0"/>
          </a:p>
        </p:txBody>
      </p:sp>
      <p:sp>
        <p:nvSpPr>
          <p:cNvPr id="14" name="Text 7"/>
          <p:cNvSpPr/>
          <p:nvPr/>
        </p:nvSpPr>
        <p:spPr>
          <a:xfrm>
            <a:off x="745015" y="4548386"/>
            <a:ext cx="5249235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kern="100" spc="-1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 verified successfully</a:t>
            </a:r>
            <a:endParaRPr lang="en-US" sz="600" dirty="0"/>
          </a:p>
        </p:txBody>
      </p:sp>
      <p:sp>
        <p:nvSpPr>
          <p:cNvPr id="15" name="Shape 8"/>
          <p:cNvSpPr/>
          <p:nvPr/>
        </p:nvSpPr>
        <p:spPr>
          <a:xfrm>
            <a:off x="6113806" y="4054773"/>
            <a:ext cx="5416414" cy="667841"/>
          </a:xfrm>
          <a:prstGeom prst="roundRect">
            <a:avLst>
              <a:gd name="adj" fmla="val 485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9"/>
          <p:cNvSpPr/>
          <p:nvPr/>
        </p:nvSpPr>
        <p:spPr>
          <a:xfrm>
            <a:off x="6197346" y="4138315"/>
            <a:ext cx="231769" cy="23177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1043" y="4202013"/>
            <a:ext cx="104276" cy="10427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97346" y="4406106"/>
            <a:ext cx="5249334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Algorithms: Verified</a:t>
            </a:r>
            <a:endParaRPr lang="en-US" sz="750" dirty="0"/>
          </a:p>
        </p:txBody>
      </p:sp>
      <p:sp>
        <p:nvSpPr>
          <p:cNvPr id="19" name="Text 11"/>
          <p:cNvSpPr/>
          <p:nvPr/>
        </p:nvSpPr>
        <p:spPr>
          <a:xfrm>
            <a:off x="6197346" y="4548386"/>
            <a:ext cx="5249334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kern="100" spc="-1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string matching algorithms tested</a:t>
            </a:r>
            <a:endParaRPr lang="en-US" sz="600" dirty="0"/>
          </a:p>
        </p:txBody>
      </p:sp>
      <p:sp>
        <p:nvSpPr>
          <p:cNvPr id="20" name="Shape 12"/>
          <p:cNvSpPr/>
          <p:nvPr/>
        </p:nvSpPr>
        <p:spPr>
          <a:xfrm>
            <a:off x="661475" y="4758630"/>
            <a:ext cx="5416315" cy="667841"/>
          </a:xfrm>
          <a:prstGeom prst="roundRect">
            <a:avLst>
              <a:gd name="adj" fmla="val 485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3"/>
          <p:cNvSpPr/>
          <p:nvPr/>
        </p:nvSpPr>
        <p:spPr>
          <a:xfrm>
            <a:off x="745015" y="4842173"/>
            <a:ext cx="231769" cy="23177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8712" y="4905871"/>
            <a:ext cx="104276" cy="10427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5015" y="5109964"/>
            <a:ext cx="524923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Programming: Verified</a:t>
            </a:r>
            <a:endParaRPr lang="en-US" sz="750" dirty="0"/>
          </a:p>
        </p:txBody>
      </p:sp>
      <p:sp>
        <p:nvSpPr>
          <p:cNvPr id="24" name="Text 15"/>
          <p:cNvSpPr/>
          <p:nvPr/>
        </p:nvSpPr>
        <p:spPr>
          <a:xfrm>
            <a:off x="745015" y="5252244"/>
            <a:ext cx="5249235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kern="100" spc="-1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 and optimization modules confirmed</a:t>
            </a:r>
            <a:endParaRPr lang="en-US" sz="600" dirty="0"/>
          </a:p>
        </p:txBody>
      </p:sp>
      <p:sp>
        <p:nvSpPr>
          <p:cNvPr id="25" name="Shape 16"/>
          <p:cNvSpPr/>
          <p:nvPr/>
        </p:nvSpPr>
        <p:spPr>
          <a:xfrm>
            <a:off x="6113806" y="4758630"/>
            <a:ext cx="5416414" cy="667841"/>
          </a:xfrm>
          <a:prstGeom prst="roundRect">
            <a:avLst>
              <a:gd name="adj" fmla="val 485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7"/>
          <p:cNvSpPr/>
          <p:nvPr/>
        </p:nvSpPr>
        <p:spPr>
          <a:xfrm>
            <a:off x="6197346" y="4842173"/>
            <a:ext cx="231769" cy="23177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61043" y="4905871"/>
            <a:ext cx="104276" cy="104279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197346" y="5109964"/>
            <a:ext cx="5249334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Flow &amp; Matching: Verified</a:t>
            </a:r>
            <a:endParaRPr lang="en-US" sz="750" dirty="0"/>
          </a:p>
        </p:txBody>
      </p:sp>
      <p:sp>
        <p:nvSpPr>
          <p:cNvPr id="29" name="Text 19"/>
          <p:cNvSpPr/>
          <p:nvPr/>
        </p:nvSpPr>
        <p:spPr>
          <a:xfrm>
            <a:off x="6197346" y="5252244"/>
            <a:ext cx="5249334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kern="100" spc="-1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and graph algorithms confirmed</a:t>
            </a:r>
            <a:endParaRPr lang="en-US" sz="600" dirty="0"/>
          </a:p>
        </p:txBody>
      </p:sp>
      <p:sp>
        <p:nvSpPr>
          <p:cNvPr id="30" name="Shape 20"/>
          <p:cNvSpPr/>
          <p:nvPr/>
        </p:nvSpPr>
        <p:spPr>
          <a:xfrm>
            <a:off x="661475" y="5462488"/>
            <a:ext cx="5416315" cy="667841"/>
          </a:xfrm>
          <a:prstGeom prst="roundRect">
            <a:avLst>
              <a:gd name="adj" fmla="val 485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1"/>
          <p:cNvSpPr/>
          <p:nvPr/>
        </p:nvSpPr>
        <p:spPr>
          <a:xfrm>
            <a:off x="745015" y="5546030"/>
            <a:ext cx="231769" cy="23177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8712" y="5609729"/>
            <a:ext cx="104276" cy="104279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45015" y="5813822"/>
            <a:ext cx="524923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Navigation: Verified</a:t>
            </a:r>
            <a:endParaRPr lang="en-US" sz="750" dirty="0"/>
          </a:p>
        </p:txBody>
      </p:sp>
      <p:sp>
        <p:nvSpPr>
          <p:cNvPr id="34" name="Text 23"/>
          <p:cNvSpPr/>
          <p:nvPr/>
        </p:nvSpPr>
        <p:spPr>
          <a:xfrm>
            <a:off x="745015" y="5956102"/>
            <a:ext cx="5249235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kern="100" spc="-1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routes and UI navigation tested</a:t>
            </a:r>
            <a:endParaRPr lang="en-US" sz="600" dirty="0"/>
          </a:p>
        </p:txBody>
      </p:sp>
      <p:sp>
        <p:nvSpPr>
          <p:cNvPr id="35" name="Shape 24"/>
          <p:cNvSpPr/>
          <p:nvPr/>
        </p:nvSpPr>
        <p:spPr>
          <a:xfrm>
            <a:off x="6113806" y="5462488"/>
            <a:ext cx="5416414" cy="667841"/>
          </a:xfrm>
          <a:prstGeom prst="roundRect">
            <a:avLst>
              <a:gd name="adj" fmla="val 485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25"/>
          <p:cNvSpPr/>
          <p:nvPr/>
        </p:nvSpPr>
        <p:spPr>
          <a:xfrm>
            <a:off x="6197346" y="5546030"/>
            <a:ext cx="231769" cy="23177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61043" y="5609729"/>
            <a:ext cx="104276" cy="104279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197346" y="5813822"/>
            <a:ext cx="5249334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10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Responsive UI: Verified</a:t>
            </a:r>
            <a:endParaRPr lang="en-US" sz="750" dirty="0"/>
          </a:p>
        </p:txBody>
      </p:sp>
      <p:sp>
        <p:nvSpPr>
          <p:cNvPr id="39" name="Text 27"/>
          <p:cNvSpPr/>
          <p:nvPr/>
        </p:nvSpPr>
        <p:spPr>
          <a:xfrm>
            <a:off x="6197346" y="5956102"/>
            <a:ext cx="5249334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kern="100" spc="-1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adapts across screen sizes</a:t>
            </a:r>
            <a:endParaRPr lang="en-US" sz="600" dirty="0"/>
          </a:p>
        </p:txBody>
      </p:sp>
      <p:sp>
        <p:nvSpPr>
          <p:cNvPr id="40" name="Shape 28"/>
          <p:cNvSpPr/>
          <p:nvPr/>
        </p:nvSpPr>
        <p:spPr>
          <a:xfrm>
            <a:off x="661475" y="6170910"/>
            <a:ext cx="10868745" cy="197644"/>
          </a:xfrm>
          <a:prstGeom prst="roundRect">
            <a:avLst>
              <a:gd name="adj" fmla="val 1642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8665" y="6226175"/>
            <a:ext cx="96537" cy="7719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912393" y="6226175"/>
            <a:ext cx="11150222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kern="100" spc="-1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shown by the application are generated from the </a:t>
            </a:r>
            <a:r>
              <a:rPr lang="en-US" sz="600" b="1" kern="100" spc="-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actual algorithm engines</a:t>
            </a:r>
            <a:r>
              <a:rPr lang="en-US" sz="600" kern="100" spc="-1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latest project verification reported successful production build and algorithm correctness testing across all implemented search, DP, and flow features.</a:t>
            </a:r>
            <a:endParaRPr lang="en-US" sz="600" dirty="0"/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2D2887-88B5-B2F8-6A3C-3BA809E7CF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776" y="959692"/>
            <a:ext cx="3655274" cy="2556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6" name="Picture 45" descr="A screenshot of a search engine&#10;&#10;AI-generated content may be incorrect.">
            <a:extLst>
              <a:ext uri="{FF2B5EF4-FFF2-40B4-BE49-F238E27FC236}">
                <a16:creationId xmlns:a16="http://schemas.microsoft.com/office/drawing/2014/main" id="{9292A8F0-2F02-05E4-5004-976B480B55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66090" y="960064"/>
            <a:ext cx="3892662" cy="2556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191DA8-261E-964F-12AA-E5AD04101CBC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8092529" y="962702"/>
            <a:ext cx="3654000" cy="2556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7299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9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Advantages, Applications &amp; Challenges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21296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716088"/>
            <a:ext cx="5242687" cy="143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 pattern searching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multiple algorithm choices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results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real-time match highlighting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document comparison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edit distance and alignment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performance measurements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algorithm comparison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Unified processing workflows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one integrated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93883" y="1321296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93883" y="1716088"/>
            <a:ext cx="5242687" cy="143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document search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literature review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 comparison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content verification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Batch processing optimization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large document sets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Resource assignment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scheduling problems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kern="10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capacity planning</a:t>
            </a: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flow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426718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Faced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96122"/>
            <a:ext cx="3523368" cy="11776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3782" y="4072235"/>
            <a:ext cx="309495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Correctness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3782" y="4407297"/>
            <a:ext cx="309495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Keeping multiple algorithms correct and consistent across all edge cases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064" y="3896122"/>
            <a:ext cx="3523467" cy="11776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6371" y="4072235"/>
            <a:ext cx="309505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Tokenization &amp; Match Positions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6371" y="4407297"/>
            <a:ext cx="309505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accurate match positions during text tokenization and normalization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753" y="3896122"/>
            <a:ext cx="3523368" cy="11776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9060" y="4072235"/>
            <a:ext cx="309495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State Visualization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59060" y="4407297"/>
            <a:ext cx="309495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Visualizing algorithm states clearly without overwhelming the user interface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22974"/>
            <a:ext cx="3523368" cy="11776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3782" y="5399087"/>
            <a:ext cx="309495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 Matrices &amp; Graphs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13782" y="5734149"/>
            <a:ext cx="309495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large DP matrices and graph structures efficiently in the browser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064" y="5222974"/>
            <a:ext cx="3523467" cy="117762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86371" y="5399087"/>
            <a:ext cx="309505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&amp; Algorithm Synchronization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586371" y="5734149"/>
            <a:ext cx="309505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10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Keeping UI state and algorithm state synchronized during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150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Enhancements, Conclusion &amp; 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31226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599009"/>
            <a:ext cx="5283068" cy="1204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more document formats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(PDF, DOCX)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persistent data storage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documents and results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larger-scale document processing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benchmarking and profiling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tools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accessibility and mobile experience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analytics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capabilities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53502" y="131226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53502" y="1599009"/>
            <a:ext cx="5283068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brings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efficient algorithms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one practical document-processing platform. It supports search, comparison, optimization, network planning, and performance analysis through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computational engines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result is a </a:t>
            </a:r>
            <a:r>
              <a:rPr lang="en-US" sz="950" b="1" kern="10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unified and interactive system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practical document intelligence.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2975570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3296146"/>
            <a:ext cx="5388932" cy="6222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0895" y="3308846"/>
            <a:ext cx="52268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String Matching &amp; KMP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0895" y="3558381"/>
            <a:ext cx="522681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Cormen, T.H. et al. </a:t>
            </a:r>
            <a:r>
              <a:rPr lang="en-US" sz="950" i="1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Introduction to Algorithms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, 3rd Ed. MIT Press, 2009. Knuth, D.E. et al. "Fast Pattern Matching in Strings." </a:t>
            </a:r>
            <a:r>
              <a:rPr lang="en-US" sz="950" i="1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SIAM J. Computing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, 1977.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1289" y="3296146"/>
            <a:ext cx="5388932" cy="6222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3408" y="3308846"/>
            <a:ext cx="52268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Rabin-Karp &amp; Hashing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03408" y="3558381"/>
            <a:ext cx="522681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/>
              </a:rPr>
              <a:t>Rabin, M. &amp; Karp, R. "Fingerprinting by Random Polynomials." </a:t>
            </a:r>
            <a:r>
              <a:rPr lang="en-US" sz="950" i="1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/>
              </a:rPr>
              <a:t>Harvard Tech. Report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/>
              </a:rPr>
              <a:t>, 1981.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775" y="4078982"/>
            <a:ext cx="5388932" cy="9694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0895" y="4091682"/>
            <a:ext cx="52268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Z-Algorithm &amp; Suffix Arrays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895" y="4341217"/>
            <a:ext cx="522681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/>
              </a:rPr>
              <a:t>Gusfield, D. </a:t>
            </a:r>
            <a:r>
              <a:rPr lang="en-US" sz="950" i="1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/>
              </a:rPr>
              <a:t>Algorithms on Strings, Trees and Sequences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/>
              </a:rPr>
              <a:t>. Cambridge Univ. Press, 1997. Manber, U. &amp; Myers, G. "Suffix Arrays: A New Method for On-Line String Searches." </a:t>
            </a:r>
            <a:r>
              <a:rPr lang="en-US" sz="950" i="1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/>
              </a:rPr>
              <a:t>SIAM J. Computing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/>
              </a:rPr>
              <a:t>, 1993.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1289" y="4078982"/>
            <a:ext cx="5388932" cy="9694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3408" y="4091682"/>
            <a:ext cx="52268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Programming &amp; Sequence Alignment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03408" y="4341217"/>
            <a:ext cx="5226812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/>
              </a:rPr>
              <a:t>Bellman, R. Dynamic Programming. Princeton Univ. Press, 1957. Needleman, S.B. &amp; Wunsch, C.D. "A General Method Applicable to the Search for Similarities in the Amino Acid Sequence of Two Proteins." J. Molecular Biology, 1970. Smith, T.F. &amp; Waterman, M.S. 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775" y="5209084"/>
            <a:ext cx="5388932" cy="9694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0895" y="5221784"/>
            <a:ext cx="52268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Flow Networks &amp; Matching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10895" y="5471319"/>
            <a:ext cx="5226812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1"/>
              </a:rPr>
              <a:t>Ford, L.R. &amp; Fulkerson, D.R. Flows in Networks. Princeton Univ. Press, 1962. Edmonds, J. &amp; Karp, R.M. "Theoretical Improvements in Algorithmic Efficiency for Network Flow Problems." J. ACM, 1972. Hopcroft, J.E. &amp; Karp, R.M. "An n^{5/2} Algorithm for Maxim</a:t>
            </a:r>
            <a:endParaRPr lang="en-US" sz="9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1289" y="5209084"/>
            <a:ext cx="5388932" cy="96946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03408" y="5221784"/>
            <a:ext cx="52268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 Textbooks &amp; Online References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303408" y="5471319"/>
            <a:ext cx="522681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2"/>
              </a:rPr>
              <a:t>Horowitz, E. et al. </a:t>
            </a:r>
            <a:r>
              <a:rPr lang="en-US" sz="950" i="1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2"/>
              </a:rPr>
              <a:t>Fundamentals of Computer Algorithms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2"/>
              </a:rPr>
              <a:t>. Universities Press. CLRS (Cormen et al.) </a:t>
            </a:r>
            <a:r>
              <a:rPr lang="en-US" sz="950" i="1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2"/>
              </a:rPr>
              <a:t>Introduction to Algorithms</a:t>
            </a:r>
            <a:r>
              <a:rPr lang="en-US" sz="950" kern="10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2"/>
              </a:rPr>
              <a:t>, 3rd Ed. GeeksforGeeks — Algorithm Reference Documentation. CP-Algorithms — String Algorithms &amp; Graph Algorithms.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1123</Words>
  <Application>Microsoft Macintosh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Light</vt:lpstr>
      <vt:lpstr>Arial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</cp:lastModifiedBy>
  <cp:revision>2</cp:revision>
  <dcterms:created xsi:type="dcterms:W3CDTF">2026-10-06T03:24:54Z</dcterms:created>
  <dcterms:modified xsi:type="dcterms:W3CDTF">2026-10-06T03:46:08Z</dcterms:modified>
</cp:coreProperties>
</file>