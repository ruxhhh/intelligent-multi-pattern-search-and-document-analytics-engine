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7" r:id="rId8"/>
    <p:sldId id="260" r:id="rId9"/>
    <p:sldId id="264" r:id="rId10"/>
  </p:sldIdLst>
  <p:sldSz cx="9144000" cy="5143500"/>
  <p:notesSz cx="5143500" cy="9144000"/>
  <p:embeddedFontLst>
    <p:embeddedFont>
      <p:font typeface="Instrument Sans Medium" pitchFamily="34" charset="0"/>
      <p:regular r:id="rId14"/>
    </p:embeddedFont>
    <p:embeddedFont>
      <p:font typeface="Instrument Sans Medium" pitchFamily="34" charset="-122"/>
      <p:regular r:id="rId15"/>
    </p:embeddedFont>
    <p:embeddedFont>
      <p:font typeface="Instrument Sans Medium" pitchFamily="34" charset="-120"/>
      <p:regular r:id="rId16"/>
    </p:embeddedFont>
    <p:embeddedFont>
      <p:font typeface="Instrument Sans SemiBold" pitchFamily="34" charset="0"/>
      <p:bold r:id="rId17"/>
    </p:embeddedFont>
    <p:embeddedFont>
      <p:font typeface="Instrument Sans SemiBold" pitchFamily="34" charset="-122"/>
      <p:bold r:id="rId18"/>
    </p:embeddedFont>
    <p:embeddedFont>
      <p:font typeface="Instrument Sans SemiBold" pitchFamily="34" charset="-120"/>
      <p:bold r:id="rId19"/>
    </p:embeddedFont>
    <p:embeddedFont>
      <p:font typeface="Instrument Sans Bold" pitchFamily="34" charset="0"/>
      <p:bold r:id="rId20"/>
    </p:embeddedFont>
    <p:embeddedFont>
      <p:font typeface="Instrument Sans Bold" pitchFamily="34" charset="-122"/>
      <p:bold r:id="rId21"/>
    </p:embeddedFont>
    <p:embeddedFont>
      <p:font typeface="Instrument Sans Bold" pitchFamily="34" charset="-120"/>
      <p:bold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3.fntdata"/><Relationship Id="rId25" Type="http://schemas.openxmlformats.org/officeDocument/2006/relationships/font" Target="fonts/font12.fntdata"/><Relationship Id="rId24" Type="http://schemas.openxmlformats.org/officeDocument/2006/relationships/font" Target="fonts/font11.fntdata"/><Relationship Id="rId23" Type="http://schemas.openxmlformats.org/officeDocument/2006/relationships/font" Target="fonts/font10.fntdata"/><Relationship Id="rId22" Type="http://schemas.openxmlformats.org/officeDocument/2006/relationships/font" Target="fonts/font9.fntdata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455167"/>
            <a:ext cx="1370186" cy="215354"/>
          </a:xfrm>
          <a:prstGeom prst="roundRect">
            <a:avLst>
              <a:gd name="adj" fmla="val 47398"/>
            </a:avLst>
          </a:prstGeom>
          <a:solidFill>
            <a:srgbClr val="CEE6FD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1174" y="1497657"/>
            <a:ext cx="1657276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B.TECH CSE · REVIEW 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727225"/>
            <a:ext cx="8151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Intelligent Multi-Pattern Search and Document Analytics Engine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825800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smart, algorithm-driven system for fast document search, multi-pattern matching and intelligent document analysis.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3247504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1E3063">
              <a:alpha val="50000"/>
            </a:srgbClr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6119" y="3461445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Team: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 RUCHEE · ODDIRAJU SRIDHRUTI · K POOJASRI REDDY  |  </a:t>
            </a: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Guide: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DR ANITHA  PATIL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02693"/>
            <a:ext cx="1418481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84C1F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1174" y="1345183"/>
            <a:ext cx="1705570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74750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Challenge with Traditional Search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2230338"/>
            <a:ext cx="4107135" cy="1610469"/>
          </a:xfrm>
          <a:prstGeom prst="roundRect">
            <a:avLst>
              <a:gd name="adj" fmla="val 12676"/>
            </a:avLst>
          </a:prstGeom>
          <a:solidFill>
            <a:srgbClr val="000E21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5781" y="2372097"/>
            <a:ext cx="382361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Current Limitations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735312"/>
            <a:ext cx="3823618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Slow on large documents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pattern at a time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document-level insights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Poor scalability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372097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What We Need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735312"/>
            <a:ext cx="3902943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Search multiple patterns simultaneously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 many documents quickly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Deliver meaningful document analytics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 a fast, intelligent, user-friendly search engine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93353"/>
            <a:ext cx="852934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84C1F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81174" y="1035844"/>
            <a:ext cx="1140023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65411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What We Set Out to Build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920999"/>
            <a:ext cx="4004965" cy="1043657"/>
          </a:xfrm>
          <a:prstGeom prst="roundRect">
            <a:avLst>
              <a:gd name="adj" fmla="val 12225"/>
            </a:avLst>
          </a:prstGeom>
          <a:solidFill>
            <a:srgbClr val="CEE6FD"/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37877" y="2062758"/>
            <a:ext cx="372144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Fast Search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2369269"/>
            <a:ext cx="372144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Search single and multiple patterns quickly using advanced DSA algorithms.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920999"/>
            <a:ext cx="4005039" cy="1043657"/>
          </a:xfrm>
          <a:prstGeom prst="roundRect">
            <a:avLst>
              <a:gd name="adj" fmla="val 12225"/>
            </a:avLst>
          </a:prstGeom>
          <a:solidFill>
            <a:srgbClr val="CEE6FD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84601" y="2062758"/>
            <a:ext cx="37215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Document Analytics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84601" y="2369269"/>
            <a:ext cx="3721522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Analyze uploaded documents for keyword frequency, similarity, and structure.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106415"/>
            <a:ext cx="4004965" cy="1043657"/>
          </a:xfrm>
          <a:prstGeom prst="roundRect">
            <a:avLst>
              <a:gd name="adj" fmla="val 12225"/>
            </a:avLst>
          </a:prstGeom>
          <a:solidFill>
            <a:srgbClr val="CEE6FD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7877" y="3248174"/>
            <a:ext cx="372144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Algorithm Comparison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7877" y="3554685"/>
            <a:ext cx="372144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Benchmark and compare multiple string-matching algorithms for performance.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106415"/>
            <a:ext cx="4005039" cy="1043657"/>
          </a:xfrm>
          <a:prstGeom prst="roundRect">
            <a:avLst>
              <a:gd name="adj" fmla="val 12225"/>
            </a:avLst>
          </a:prstGeom>
          <a:solidFill>
            <a:srgbClr val="CEE6FD"/>
          </a:solidFill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84601" y="3248174"/>
            <a:ext cx="37215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User-Friendly UI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84601" y="3554685"/>
            <a:ext cx="3721522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an intuitive interface for uploading, searching, and viewing results.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4280"/>
            <a:ext cx="1183481" cy="188565"/>
          </a:xfrm>
          <a:prstGeom prst="roundRect">
            <a:avLst>
              <a:gd name="adj" fmla="val 47365"/>
            </a:avLst>
          </a:prstGeom>
          <a:noFill/>
          <a:ln w="4763">
            <a:solidFill>
              <a:srgbClr val="84C1F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70533" y="471487"/>
            <a:ext cx="1491853" cy="1141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TECHNOLOGY STACK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66229"/>
            <a:ext cx="8151763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Tools &amp; Technologies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1216521"/>
            <a:ext cx="8151763" cy="2649141"/>
          </a:xfrm>
          <a:prstGeom prst="roundRect">
            <a:avLst>
              <a:gd name="adj" fmla="val 421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96119" y="1549450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96119" y="1879997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96119" y="2210544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96119" y="2541091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96119" y="2871639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6119" y="3202186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96119" y="3532733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50716" y="1216521"/>
            <a:ext cx="7753" cy="2649141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4929" y="1291158"/>
            <a:ext cx="30566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7071" y="1291158"/>
            <a:ext cx="5499274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Purpose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4929" y="1621706"/>
            <a:ext cx="30566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Java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7071" y="1621706"/>
            <a:ext cx="5499274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programming language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4929" y="1952253"/>
            <a:ext cx="30566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Swing / JavaFX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7071" y="1952253"/>
            <a:ext cx="5499274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Desktop user interface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4929" y="2282800"/>
            <a:ext cx="30566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File Handling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7071" y="2282800"/>
            <a:ext cx="5499274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Read and parse documents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4929" y="2613347"/>
            <a:ext cx="30566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Structures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7071" y="2613347"/>
            <a:ext cx="5499274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Efficient data storage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4929" y="2943895"/>
            <a:ext cx="30566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String Matching Algorithms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7071" y="2943895"/>
            <a:ext cx="5499274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 pattern search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4929" y="3274442"/>
            <a:ext cx="30566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Hashing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7071" y="3274442"/>
            <a:ext cx="5499274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Keyword processing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4929" y="3604989"/>
            <a:ext cx="30566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 Programming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7071" y="3604989"/>
            <a:ext cx="5499274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Similarity checking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6119" y="3987701"/>
            <a:ext cx="4021634" cy="721519"/>
          </a:xfrm>
          <a:prstGeom prst="roundRect">
            <a:avLst>
              <a:gd name="adj" fmla="val 15473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4380" y="4125962"/>
            <a:ext cx="3745111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4380" y="4384923"/>
            <a:ext cx="3745111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IntelliJ IDEA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26248" y="3987701"/>
            <a:ext cx="4021634" cy="721519"/>
          </a:xfrm>
          <a:prstGeom prst="roundRect">
            <a:avLst>
              <a:gd name="adj" fmla="val 15473"/>
            </a:avLst>
          </a:prstGeom>
          <a:solidFill>
            <a:srgbClr val="FFFFFF"/>
          </a:solidFill>
          <a:ln w="14288">
            <a:solidFill>
              <a:srgbClr val="B4CCE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764509" y="4125962"/>
            <a:ext cx="3745111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64509" y="4384923"/>
            <a:ext cx="3745111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 &amp; GitHub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-635" y="-635"/>
            <a:ext cx="9145270" cy="1078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endParaRPr lang="en-US" sz="2750" dirty="0">
              <a:solidFill>
                <a:srgbClr val="091C5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  <a:sym typeface="+mn-ea"/>
            </a:endParaRPr>
          </a:p>
          <a:p>
            <a:pPr algn="ctr"/>
            <a:endParaRPr lang="en-US" sz="2750" dirty="0">
              <a:solidFill>
                <a:srgbClr val="091C5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  <a:sym typeface="+mn-ea"/>
            </a:endParaRPr>
          </a:p>
          <a:p>
            <a:pPr algn="ctr"/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  <a:sym typeface="+mn-ea"/>
              </a:rPr>
              <a:t>Expected Outcomes</a:t>
            </a:r>
            <a:endParaRPr lang="en-US" sz="2750"/>
          </a:p>
        </p:txBody>
      </p:sp>
      <p:sp>
        <p:nvSpPr>
          <p:cNvPr id="3" name="Text Box 2"/>
          <p:cNvSpPr txBox="1"/>
          <p:nvPr/>
        </p:nvSpPr>
        <p:spPr>
          <a:xfrm>
            <a:off x="-635" y="1440180"/>
            <a:ext cx="9145270" cy="2834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93040" indent="-193040" algn="ctr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sym typeface="+mn-ea"/>
              </a:rPr>
              <a:t>Faster search with reduced execution time</a:t>
            </a:r>
            <a:endParaRPr lang="en-US" sz="1100" dirty="0"/>
          </a:p>
          <a:p>
            <a:pPr marL="193040" indent="-193040" algn="ctr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sym typeface="+mn-ea"/>
              </a:rPr>
              <a:t>Multi-pattern search in a single pass</a:t>
            </a:r>
            <a:endParaRPr lang="en-US" sz="1100" dirty="0"/>
          </a:p>
          <a:p>
            <a:pPr marL="193040" indent="-193040" algn="ctr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sym typeface="+mn-ea"/>
              </a:rPr>
              <a:t>Rich document analytics and insights</a:t>
            </a:r>
            <a:endParaRPr lang="en-US" sz="1100" dirty="0"/>
          </a:p>
          <a:p>
            <a:pPr marL="193040" indent="-193040" algn="ctr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sym typeface="+mn-ea"/>
              </a:rPr>
              <a:t>Intuitive, easy-to-use interface</a:t>
            </a:r>
            <a:endParaRPr lang="en-US" sz="1100" dirty="0"/>
          </a:p>
          <a:p>
            <a:pPr marL="193040" indent="-193040" algn="ctr">
              <a:lnSpc>
                <a:spcPct val="125000"/>
              </a:lnSpc>
              <a:buSzPct val="100000"/>
              <a:buChar char="•"/>
            </a:pPr>
            <a:endParaRPr lang="en-US" sz="1100"/>
          </a:p>
        </p:txBody>
      </p:sp>
      <p:sp>
        <p:nvSpPr>
          <p:cNvPr id="4" name="Text Box 3"/>
          <p:cNvSpPr txBox="1"/>
          <p:nvPr/>
        </p:nvSpPr>
        <p:spPr>
          <a:xfrm>
            <a:off x="-635" y="2834005"/>
            <a:ext cx="9144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  <a:sym typeface="+mn-ea"/>
              </a:rPr>
              <a:t>Planned UI Screens</a:t>
            </a:r>
            <a:endParaRPr lang="en-US" sz="1350" dirty="0"/>
          </a:p>
          <a:p>
            <a:pPr algn="ctr"/>
            <a:endParaRPr lang="en-US" sz="1350"/>
          </a:p>
        </p:txBody>
      </p:sp>
      <p:sp>
        <p:nvSpPr>
          <p:cNvPr id="5" name="Text Box 4"/>
          <p:cNvSpPr txBox="1"/>
          <p:nvPr/>
        </p:nvSpPr>
        <p:spPr>
          <a:xfrm>
            <a:off x="-156845" y="3192145"/>
            <a:ext cx="9288145" cy="7854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93040" indent="-193040" algn="ctr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sym typeface="+mn-ea"/>
              </a:rPr>
              <a:t>Login &amp; Upload Screen</a:t>
            </a:r>
            <a:endParaRPr lang="en-US" sz="950" dirty="0"/>
          </a:p>
          <a:p>
            <a:pPr marL="193040" indent="-193040" algn="ctr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sym typeface="+mn-ea"/>
              </a:rPr>
              <a:t>Search &amp; Analytics Screen</a:t>
            </a:r>
            <a:endParaRPr lang="en-US" sz="950" dirty="0"/>
          </a:p>
          <a:p>
            <a:pPr marL="193040" indent="-193040" algn="ctr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sym typeface="+mn-ea"/>
              </a:rPr>
              <a:t>Result Display Screen</a:t>
            </a:r>
            <a:endParaRPr lang="en-US" sz="950" dirty="0"/>
          </a:p>
          <a:p>
            <a:pPr algn="ctr"/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935" y="389890"/>
            <a:ext cx="784225" cy="123190"/>
          </a:xfrm>
          <a:prstGeom prst="roundRect">
            <a:avLst>
              <a:gd name="adj" fmla="val 47430"/>
            </a:avLst>
          </a:prstGeom>
          <a:noFill/>
          <a:ln w="4763">
            <a:solidFill>
              <a:srgbClr val="84C1F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38609" y="411063"/>
            <a:ext cx="892225" cy="651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</a:t>
            </a:r>
            <a:endParaRPr lang="en-US" sz="700" dirty="0">
              <a:solidFill>
                <a:srgbClr val="84C1FA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Architecture &amp; Modules</a:t>
            </a:r>
            <a:endParaRPr lang="en-US" sz="2400" dirty="0">
              <a:solidFill>
                <a:srgbClr val="091C5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1510" y="283210"/>
            <a:ext cx="3692525" cy="18656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4430" y="1130300"/>
            <a:ext cx="880745" cy="22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Uploads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69150" y="1147445"/>
            <a:ext cx="742950" cy="4210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Preprocessing</a:t>
            </a:r>
            <a:endParaRPr lang="en-US" sz="1200" dirty="0">
              <a:solidFill>
                <a:srgbClr val="091C5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615552" y="1048882"/>
            <a:ext cx="1685107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Search &amp;</a:t>
            </a:r>
            <a:endParaRPr lang="en-US" sz="1200" dirty="0">
              <a:solidFill>
                <a:srgbClr val="091C5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</a:t>
            </a:r>
            <a:r>
              <a:rPr lang="en-US" sz="1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Analytics</a:t>
            </a:r>
            <a:endParaRPr lang="en-US" sz="1200" dirty="0">
              <a:solidFill>
                <a:srgbClr val="091C5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5935" y="1856740"/>
            <a:ext cx="8629015" cy="5035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engine follows a clean four-phase pipeline — from document ingestion through</a:t>
            </a:r>
            <a:endParaRPr lang="en-US" sz="12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preprocessing, algorithm-drivensearch and finally analytics and result presentation.</a:t>
            </a:r>
            <a:endParaRPr lang="en-US" sz="12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69" y="2436941"/>
            <a:ext cx="354360" cy="4252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354" y="2542709"/>
            <a:ext cx="776198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Document Upload</a:t>
            </a:r>
            <a:endParaRPr lang="en-US" sz="950" dirty="0">
              <a:solidFill>
                <a:srgbClr val="1E306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9" y="2979058"/>
            <a:ext cx="354360" cy="4252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1004" y="3138165"/>
            <a:ext cx="776198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Preprocessing</a:t>
            </a:r>
            <a:endParaRPr lang="en-US" sz="950" dirty="0">
              <a:solidFill>
                <a:srgbClr val="1E306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19" y="3546574"/>
            <a:ext cx="354360" cy="4252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1004" y="3703776"/>
            <a:ext cx="776198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Pattern Search</a:t>
            </a:r>
            <a:endParaRPr lang="en-US" sz="950" dirty="0">
              <a:solidFill>
                <a:srgbClr val="1E306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819" y="4114091"/>
            <a:ext cx="354360" cy="4252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1004" y="4238273"/>
            <a:ext cx="776198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Multi-Pattern Matching</a:t>
            </a:r>
            <a:endParaRPr lang="en-US" sz="950" dirty="0">
              <a:solidFill>
                <a:srgbClr val="1E306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8459" y="2436882"/>
            <a:ext cx="354360" cy="4252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391099" y="2572494"/>
            <a:ext cx="776198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Analytics</a:t>
            </a:r>
            <a:endParaRPr lang="en-US" sz="950" dirty="0">
              <a:solidFill>
                <a:srgbClr val="1E306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8459" y="2980903"/>
            <a:ext cx="354360" cy="42527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391099" y="3123501"/>
            <a:ext cx="776198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Performance Comparison</a:t>
            </a:r>
            <a:endParaRPr lang="en-US" sz="950" dirty="0">
              <a:solidFill>
                <a:srgbClr val="1E306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8459" y="3609380"/>
            <a:ext cx="354360" cy="42527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391099" y="3740547"/>
            <a:ext cx="7761982" cy="11072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Result Display</a:t>
            </a:r>
            <a:endParaRPr lang="en-US" sz="950" dirty="0">
              <a:solidFill>
                <a:srgbClr val="1E3063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496119" y="7941618"/>
            <a:ext cx="8608963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Seven tightly integrated modules handle the full lifecycle — from ingestion and preprocessing to search, analytics, and result presentation.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8179"/>
            <a:ext cx="1308646" cy="188565"/>
          </a:xfrm>
          <a:prstGeom prst="roundRect">
            <a:avLst>
              <a:gd name="adj" fmla="val 47365"/>
            </a:avLst>
          </a:prstGeom>
          <a:noFill/>
          <a:ln w="4763">
            <a:solidFill>
              <a:srgbClr val="84C1F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70533" y="465386"/>
            <a:ext cx="1617018" cy="1141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PROGRESS &amp; ROADMAP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60127"/>
            <a:ext cx="8151763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Timeline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2345382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B4CCE3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457027" y="1973312"/>
            <a:ext cx="14288" cy="372070"/>
          </a:xfrm>
          <a:prstGeom prst="roundRect">
            <a:avLst>
              <a:gd name="adj" fmla="val 49998"/>
            </a:avLst>
          </a:prstGeom>
          <a:solidFill>
            <a:srgbClr val="B4CCE3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24645" y="2205856"/>
            <a:ext cx="279053" cy="279053"/>
          </a:xfrm>
          <a:prstGeom prst="roundRect">
            <a:avLst>
              <a:gd name="adj" fmla="val 40007"/>
            </a:avLst>
          </a:prstGeom>
          <a:solidFill>
            <a:srgbClr val="CEE6FD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154" y="2229110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0092" y="1210419"/>
            <a:ext cx="168823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Problem Selection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0092" y="1469380"/>
            <a:ext cx="16882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Completed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92946" y="2345382"/>
            <a:ext cx="14288" cy="372070"/>
          </a:xfrm>
          <a:prstGeom prst="roundRect">
            <a:avLst>
              <a:gd name="adj" fmla="val 49998"/>
            </a:avLst>
          </a:prstGeom>
          <a:solidFill>
            <a:srgbClr val="B4CCE3"/>
          </a:solidFill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360563" y="2205856"/>
            <a:ext cx="279053" cy="279053"/>
          </a:xfrm>
          <a:prstGeom prst="roundRect">
            <a:avLst>
              <a:gd name="adj" fmla="val 40007"/>
            </a:avLst>
          </a:prstGeom>
          <a:solidFill>
            <a:srgbClr val="CEE6FD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07072" y="2229110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656011" y="2841501"/>
            <a:ext cx="168823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56011" y="3100462"/>
            <a:ext cx="16882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Completed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28864" y="1973312"/>
            <a:ext cx="14288" cy="372070"/>
          </a:xfrm>
          <a:prstGeom prst="roundRect">
            <a:avLst>
              <a:gd name="adj" fmla="val 49998"/>
            </a:avLst>
          </a:prstGeom>
          <a:solidFill>
            <a:srgbClr val="B4CCE3"/>
          </a:solidFill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396481" y="2205856"/>
            <a:ext cx="279053" cy="279053"/>
          </a:xfrm>
          <a:prstGeom prst="roundRect">
            <a:avLst>
              <a:gd name="adj" fmla="val 40007"/>
            </a:avLst>
          </a:prstGeom>
          <a:solidFill>
            <a:srgbClr val="CEE6FD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42990" y="2229110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691929" y="1210419"/>
            <a:ext cx="168823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1929" y="1469380"/>
            <a:ext cx="16882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Completed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64782" y="2345382"/>
            <a:ext cx="14288" cy="372070"/>
          </a:xfrm>
          <a:prstGeom prst="roundRect">
            <a:avLst>
              <a:gd name="adj" fmla="val 49998"/>
            </a:avLst>
          </a:prstGeom>
          <a:solidFill>
            <a:srgbClr val="B4CCE3"/>
          </a:solidFill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432399" y="2205856"/>
            <a:ext cx="279053" cy="279053"/>
          </a:xfrm>
          <a:prstGeom prst="roundRect">
            <a:avLst>
              <a:gd name="adj" fmla="val 40007"/>
            </a:avLst>
          </a:prstGeom>
          <a:solidFill>
            <a:srgbClr val="CEE6FD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78908" y="2229110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27847" y="2841501"/>
            <a:ext cx="168823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27847" y="3100462"/>
            <a:ext cx="16882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 Progress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00700" y="1973312"/>
            <a:ext cx="14288" cy="372070"/>
          </a:xfrm>
          <a:prstGeom prst="roundRect">
            <a:avLst>
              <a:gd name="adj" fmla="val 49998"/>
            </a:avLst>
          </a:prstGeom>
          <a:solidFill>
            <a:srgbClr val="B4CCE3"/>
          </a:solidFill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468317" y="2205856"/>
            <a:ext cx="279053" cy="279053"/>
          </a:xfrm>
          <a:prstGeom prst="roundRect">
            <a:avLst>
              <a:gd name="adj" fmla="val 40007"/>
            </a:avLst>
          </a:prstGeom>
          <a:solidFill>
            <a:srgbClr val="CEE6FD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514826" y="2229110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763765" y="1210419"/>
            <a:ext cx="1688232" cy="3876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Algorithm Implementation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63765" y="1663229"/>
            <a:ext cx="16882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 Progress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36618" y="2345382"/>
            <a:ext cx="14288" cy="372070"/>
          </a:xfrm>
          <a:prstGeom prst="roundRect">
            <a:avLst>
              <a:gd name="adj" fmla="val 49998"/>
            </a:avLst>
          </a:prstGeom>
          <a:solidFill>
            <a:srgbClr val="B4CCE3"/>
          </a:solidFill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504236" y="2205856"/>
            <a:ext cx="279053" cy="279053"/>
          </a:xfrm>
          <a:prstGeom prst="roundRect">
            <a:avLst>
              <a:gd name="adj" fmla="val 40007"/>
            </a:avLst>
          </a:prstGeom>
          <a:solidFill>
            <a:srgbClr val="CEE6FD"/>
          </a:solidFill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550744" y="2229110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6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799683" y="2841501"/>
            <a:ext cx="168823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99683" y="3100462"/>
            <a:ext cx="1688232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⏳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Pending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672611" y="1973312"/>
            <a:ext cx="14288" cy="372070"/>
          </a:xfrm>
          <a:prstGeom prst="roundRect">
            <a:avLst>
              <a:gd name="adj" fmla="val 49998"/>
            </a:avLst>
          </a:prstGeom>
          <a:solidFill>
            <a:srgbClr val="B4CCE3"/>
          </a:solidFill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540228" y="2205856"/>
            <a:ext cx="279053" cy="279053"/>
          </a:xfrm>
          <a:prstGeom prst="roundRect">
            <a:avLst>
              <a:gd name="adj" fmla="val 40007"/>
            </a:avLst>
          </a:prstGeom>
          <a:solidFill>
            <a:srgbClr val="CEE6FD"/>
          </a:solidFill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586737" y="2229110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7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835601" y="1210419"/>
            <a:ext cx="168830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Final Review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35601" y="1469380"/>
            <a:ext cx="1688306" cy="1860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⏳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Pending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6119" y="3517032"/>
            <a:ext cx="3924598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6119" y="3819376"/>
            <a:ext cx="3924598" cy="8579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28046" y="3517032"/>
            <a:ext cx="3924598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28046" y="3819376"/>
            <a:ext cx="3924598" cy="6340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2329</Words>
  <Application>WPS Presentation</Application>
  <PresentationFormat>On-screen Show (16:9)</PresentationFormat>
  <Paragraphs>183</Paragraphs>
  <Slides>7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8" baseType="lpstr">
      <vt:lpstr>Arial</vt:lpstr>
      <vt:lpstr>SimSun</vt:lpstr>
      <vt:lpstr>Wingdings</vt:lpstr>
      <vt:lpstr>Instrument Sans Medium</vt:lpstr>
      <vt:lpstr>Instrument Sans Medium</vt:lpstr>
      <vt:lpstr>Instrument Sans Medium</vt:lpstr>
      <vt:lpstr>Instrument Sans SemiBold</vt:lpstr>
      <vt:lpstr>Instrument Sans SemiBold</vt:lpstr>
      <vt:lpstr>Instrument Sans SemiBold</vt:lpstr>
      <vt:lpstr>Instrument Sans Bold</vt:lpstr>
      <vt:lpstr>Instrument Sans Bold</vt:lpstr>
      <vt:lpstr>Instrument Sans Bold</vt:lpstr>
      <vt:lpstr>Twemoji Mozilla</vt:lpstr>
      <vt:lpstr>Segoe Print</vt:lpstr>
      <vt:lpstr>Twemoji Mozilla</vt:lpstr>
      <vt:lpstr>Twemoji Mozilla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ruchee</cp:lastModifiedBy>
  <cp:revision>3</cp:revision>
  <dcterms:created xsi:type="dcterms:W3CDTF">2026-08-04T15:24:00Z</dcterms:created>
  <dcterms:modified xsi:type="dcterms:W3CDTF">2026-08-04T15:56:52Z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788E48D414384805B19BF92A2DB148D7_13</vt:lpwstr>
  </property>
</Properties>
</file>